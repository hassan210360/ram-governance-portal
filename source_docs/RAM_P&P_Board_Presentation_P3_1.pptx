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RAM Real Estate Asset Management</a:t>
            </a:r>
          </a:p>
          <a:p>
            <a:r>
              <a:t>Policies &amp; Procedures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Presentation</a:t>
            </a:r>
          </a:p>
          <a:p>
            <a:r>
              <a:t>Prepared by SQUAD Consulting</a:t>
            </a:r>
          </a:p>
          <a:p>
            <a:r>
              <a:t>Branding: BETA-RESEARCH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Portfolio Value: 900M+ LE</a:t>
            </a:r>
          </a:p>
          <a:p>
            <a:pPr lvl="1"/>
            <a:r>
              <a:t>Target ROA ≥ 8%</a:t>
            </a:r>
          </a:p>
          <a:p>
            <a:pPr lvl="1"/>
            <a:r>
              <a:t>Asset Growth Target 10–15%</a:t>
            </a:r>
          </a:p>
          <a:p>
            <a:pPr lvl="1"/>
            <a:r>
              <a:t>Occupancy Target ≥ 90–95%</a:t>
            </a:r>
          </a:p>
          <a:p>
            <a:pPr lvl="1"/>
            <a:r>
              <a:t>Governed FM under RAM oversight</a:t>
            </a:r>
          </a:p>
          <a:p>
            <a:pPr lvl="1"/>
            <a:r>
              <a:t>SAP Enablement &amp; Digital 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Board of Directors – Strategic Oversight</a:t>
            </a:r>
          </a:p>
          <a:p>
            <a:pPr lvl="1"/>
            <a:r>
              <a:t>Asset Management Committee (AMC) – Investments &amp; CapEx</a:t>
            </a:r>
          </a:p>
          <a:p>
            <a:pPr lvl="1"/>
            <a:r>
              <a:t>FM Board (FMB) – SLA &amp; Vendor Oversight</a:t>
            </a:r>
          </a:p>
          <a:p>
            <a:pPr lvl="1"/>
            <a:r>
              <a:t>Audit &amp; Risk Committee – Controls &amp; Compliance</a:t>
            </a:r>
          </a:p>
          <a:p>
            <a:pPr lvl="1"/>
            <a:r>
              <a:t>CEO – Executive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RAM Asset Management Value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1. Portfolio Strategy &amp; Planning</a:t>
            </a:r>
          </a:p>
          <a:p>
            <a:pPr lvl="1"/>
            <a:r>
              <a:t>2. Opportunity Management</a:t>
            </a:r>
          </a:p>
          <a:p>
            <a:pPr lvl="1"/>
            <a:r>
              <a:t>3. Acquisition &amp; Due Diligence</a:t>
            </a:r>
          </a:p>
          <a:p>
            <a:pPr lvl="1"/>
            <a:r>
              <a:t>4. Strategic Asset Plan (3–5 Years)</a:t>
            </a:r>
          </a:p>
          <a:p>
            <a:pPr lvl="1"/>
            <a:r>
              <a:t>5. Leasing Lifecycle</a:t>
            </a:r>
          </a:p>
          <a:p>
            <a:pPr lvl="1"/>
            <a:r>
              <a:t>6. Governed Facility Management</a:t>
            </a:r>
          </a:p>
          <a:p>
            <a:pPr lvl="1"/>
            <a:r>
              <a:t>7. Capital Projects (CAPEX)</a:t>
            </a:r>
          </a:p>
          <a:p>
            <a:pPr lvl="1"/>
            <a:r>
              <a:t>8. Performance &amp; Optimization</a:t>
            </a:r>
          </a:p>
          <a:p>
            <a:pPr lvl="1"/>
            <a:r>
              <a:t>9. Risk &amp; Compliance</a:t>
            </a:r>
          </a:p>
          <a:p>
            <a:pPr lvl="1"/>
            <a:r>
              <a:t>10. Disposal / Exit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P&amp;P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Policy: Alignment with Portfolio Strategy mandatory</a:t>
            </a:r>
          </a:p>
          <a:p>
            <a:pPr lvl="1"/>
            <a:r>
              <a:t>Tools: SIPOC, Financial Model, Risk Pre-screen</a:t>
            </a:r>
          </a:p>
          <a:p>
            <a:pPr lvl="1"/>
            <a:r>
              <a:t>Control: AMC Pre-clearance before DD</a:t>
            </a:r>
          </a:p>
          <a:p>
            <a:pPr lvl="1"/>
            <a:r>
              <a:t>KPIs: Screening Cycle &lt;10 days, IRR &gt; Hurdle +2%</a:t>
            </a:r>
          </a:p>
          <a:p>
            <a:pPr lvl="1"/>
            <a:r>
              <a:t>SAP: CO, SAC,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Financial, Legal, Technical DD required</a:t>
            </a:r>
          </a:p>
          <a:p>
            <a:pPr lvl="1"/>
            <a:r>
              <a:t>Investment Memo mandatory</a:t>
            </a:r>
          </a:p>
          <a:p>
            <a:pPr lvl="1"/>
            <a:r>
              <a:t>Gate approvals via AMC &amp; Board thresholds</a:t>
            </a:r>
          </a:p>
          <a:p>
            <a:pPr lvl="1"/>
            <a:r>
              <a:t>KPIs: DD cycle time, Post-acquisition ROI variance</a:t>
            </a:r>
          </a:p>
          <a:p>
            <a:pPr lvl="1"/>
            <a:r>
              <a:t>SAP: FI-AA, PS, PM, GRC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 (3–5 Year Plan)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Hold/Sell Strategy</a:t>
            </a:r>
          </a:p>
          <a:p>
            <a:pPr lvl="1"/>
            <a:r>
              <a:t>NOI Growth Plan</a:t>
            </a:r>
          </a:p>
          <a:p>
            <a:pPr lvl="1"/>
            <a:r>
              <a:t>CapEx Roadmap</a:t>
            </a:r>
          </a:p>
          <a:p>
            <a:pPr lvl="1"/>
            <a:r>
              <a:t>Risk Mitigation Plan</a:t>
            </a:r>
          </a:p>
          <a:p>
            <a:pPr lvl="1"/>
            <a:r>
              <a:t>KPIs: NOI ≥ CPI+3%, Occupancy ≥95%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P&amp;P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Lead → Screening → Legal → Contract → Billing → Renewal</a:t>
            </a:r>
          </a:p>
          <a:p>
            <a:pPr lvl="1"/>
            <a:r>
              <a:t>Credit &amp; Financial Approval mandatory</a:t>
            </a:r>
          </a:p>
          <a:p>
            <a:pPr lvl="1"/>
            <a:r>
              <a:t>KPIs: Occupancy %, Tenant Retention, AR Aging &lt;60 days</a:t>
            </a:r>
          </a:p>
          <a:p>
            <a:pPr lvl="1"/>
            <a:r>
              <a:t>SAP: RE-FX, FI-AR, 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FM under RAM Governance (Not external standalone focus)</a:t>
            </a:r>
          </a:p>
          <a:p>
            <a:pPr lvl="1"/>
            <a:r>
              <a:t>SLA-Based Vendor Management</a:t>
            </a:r>
          </a:p>
          <a:p>
            <a:pPr lvl="1"/>
            <a:r>
              <a:t>PPM &amp; CM via SAP PM</a:t>
            </a:r>
          </a:p>
          <a:p>
            <a:pPr lvl="1"/>
            <a:r>
              <a:t>KPIs: PM Compliance ≥98%, SLA ≥95%, First Fix ≥85%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Projects &amp; CapEx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Gate 1: Concept</a:t>
            </a:r>
          </a:p>
          <a:p>
            <a:pPr lvl="1"/>
            <a:r>
              <a:t>Gate 2: Business Case</a:t>
            </a:r>
          </a:p>
          <a:p>
            <a:pPr lvl="1"/>
            <a:r>
              <a:t>Gate 3: Execution</a:t>
            </a:r>
          </a:p>
          <a:p>
            <a:pPr lvl="1"/>
            <a:r>
              <a:t>Gate 4: Closure &amp; Capitalization</a:t>
            </a:r>
          </a:p>
          <a:p>
            <a:pPr lvl="1"/>
            <a:r>
              <a:t>SAP: PS, FI-AA, Ariba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Financial: ROA, EBITDA, NOI</a:t>
            </a:r>
          </a:p>
          <a:p>
            <a:pPr lvl="1"/>
            <a:r>
              <a:t>Operational: Occupancy, PM Compliance</a:t>
            </a:r>
          </a:p>
          <a:p>
            <a:pPr lvl="1"/>
            <a:r>
              <a:t>Asset: Appreciation %, Value Enhancement</a:t>
            </a:r>
          </a:p>
          <a:p>
            <a:pPr lvl="1"/>
            <a:r>
              <a:t>Tools: SAP Analytics Cloud, Power BI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Risk Register maintained in SAP GRC</a:t>
            </a:r>
          </a:p>
          <a:p>
            <a:pPr lvl="1"/>
            <a:r>
              <a:t>Incident &amp; HSE governance</a:t>
            </a:r>
          </a:p>
          <a:p>
            <a:pPr lvl="1"/>
            <a:r>
              <a:t>Audit Findings Closure ≥95%</a:t>
            </a:r>
          </a:p>
          <a:p>
            <a:pPr lvl="1"/>
            <a:r>
              <a:t>Quarterly Compliance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Trigger: Strategic Realignment or Value Realization</a:t>
            </a:r>
          </a:p>
          <a:p>
            <a:pPr lvl="1"/>
            <a:r>
              <a:t>Independent Valuation required</a:t>
            </a:r>
          </a:p>
          <a:p>
            <a:pPr lvl="1"/>
            <a:r>
              <a:t>Board Approval Threshold</a:t>
            </a:r>
          </a:p>
          <a:p>
            <a:pPr lvl="1"/>
            <a:r>
              <a:t>SAP: Asset Retirement &amp; Financial Reconciliation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&amp; Corporate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Finance &amp; Budgeting Controls</a:t>
            </a:r>
          </a:p>
          <a:p>
            <a:pPr lvl="1"/>
            <a:r>
              <a:t>Procurement &amp; Vendor Governance</a:t>
            </a:r>
          </a:p>
          <a:p>
            <a:pPr lvl="1"/>
            <a:r>
              <a:t>IT &amp; Data Governance</a:t>
            </a:r>
          </a:p>
          <a:p>
            <a:pPr lvl="1"/>
            <a:r>
              <a:t>Risk &amp; Internal Audit</a:t>
            </a:r>
          </a:p>
          <a:p>
            <a:pPr lvl="1"/>
            <a:r>
              <a:t>HR Managed by GROUP EZZ ALRAB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FI/CO – Financial Governance</a:t>
            </a:r>
          </a:p>
          <a:p>
            <a:pPr lvl="1"/>
            <a:r>
              <a:t>PM – Maintenance &amp; FM</a:t>
            </a:r>
          </a:p>
          <a:p>
            <a:pPr lvl="1"/>
            <a:r>
              <a:t>PS – Capital Projects</a:t>
            </a:r>
          </a:p>
          <a:p>
            <a:pPr lvl="1"/>
            <a:r>
              <a:t>RE-FX – Leasing</a:t>
            </a:r>
          </a:p>
          <a:p>
            <a:pPr lvl="1"/>
            <a:r>
              <a:t>GRC – Risk &amp; Compliance</a:t>
            </a:r>
          </a:p>
          <a:p>
            <a:pPr lvl="1"/>
            <a:r>
              <a:t>Analytics Cloud – Dashboards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Knowledge HUB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SharePoint Hub for Policies &amp; Forms</a:t>
            </a:r>
          </a:p>
          <a:p>
            <a:pPr lvl="1"/>
            <a:r>
              <a:t>AI Search: Ask any process or threshold</a:t>
            </a:r>
          </a:p>
          <a:p>
            <a:pPr lvl="1"/>
            <a:r>
              <a:t>Automated Approval Workflows</a:t>
            </a:r>
          </a:p>
          <a:p>
            <a:pPr lvl="1"/>
            <a:r>
              <a:t>Live KPI Dashboards</a:t>
            </a:r>
          </a:p>
          <a:p>
            <a:pPr lvl="1"/>
            <a:r>
              <a:t>Future-ready Digital Operating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 of Structured P&amp;P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Improved ROA &amp; Asset Growth</a:t>
            </a:r>
          </a:p>
          <a:p>
            <a:pPr lvl="1"/>
            <a:r>
              <a:t>Reduced Operational Risk</a:t>
            </a:r>
          </a:p>
          <a:p>
            <a:pPr lvl="1"/>
            <a:r>
              <a:t>Improved Compliance &amp; Audit Readiness</a:t>
            </a:r>
          </a:p>
          <a:p>
            <a:pPr lvl="1"/>
            <a:r>
              <a:t>Scalable &amp; SAP-Ready Operating Model</a:t>
            </a:r>
          </a:p>
          <a:p>
            <a:pPr lvl="1"/>
            <a:r>
              <a:t>Supports RAM Long-Term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